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973E-1724-E7A7-7CD0-10DEDC2D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145A8-022C-AE48-8F09-7BA6293F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1A0CD-2BD6-4A18-7A6E-CC72AEA7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4949-916E-7762-6E93-462B2E42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FF70-6C65-815A-EA1F-0098843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99A6-275E-BAF5-498B-53CF4EC2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C56A-266C-D1C9-7A0D-E79A4EB2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F874E-CC9A-2C77-A4A0-6A3E02DE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31A6F-B6C8-C2EC-DAA6-E9E81872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20581-CE2F-8417-A0E4-95A36F2E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21F0-AB55-BB19-A5AB-182D9B7B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71EA5-7BBA-A401-C11A-DC4DEFBF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86BE-58D7-E977-9BF3-85AD5DC0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1E956-E21B-A992-CE27-0AC7D17E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2AB7-9FAF-56B0-3A34-6FC1E615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2BFF-2A96-69FC-830E-37E3400C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E5135-AD2B-F3BF-8CF1-F8DAC60F9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E004D-A30B-836C-0BE6-70D7CBFD8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4A4D2-C3DE-DAA1-518B-53B67511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21F4-200C-6EC3-43C4-C9790C7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15C41-9CE6-C646-238C-2953CCAB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1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CEE4-F215-0114-416B-90EA5A54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EE2E9-2D51-85B3-8C26-06DB2C1C3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E6844-08A9-FC67-6BF6-2EB590EB8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8F7CE-5348-AD88-3801-8BBB19594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BE85F-04E9-2CC1-0973-826876290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5BE1A-CF2C-0D9E-A4D6-AD7CE1D1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296F6-5623-7D77-3FE7-B15A0C34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41E3D-9371-1FA5-6F62-03A46DA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3B2D-CA31-0EBE-0EDE-EBAE78B8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7E40D-5A4C-B652-067D-D65A0FA2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1CE89-F4F7-2D9E-F0C9-EAE4C1BE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90018-CECA-D52B-3457-F4917CCE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DA843-5073-4E51-1300-926A4AF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34C64-16E1-882F-56D9-ED872D4E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9A19E-4A17-4801-AAFD-E89C5BE3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0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08E5-5A7A-07B5-0D50-5EE67B4A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D9E1-E6A7-19EF-C675-FE3AB1106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95743-C2C2-1F01-9082-EBA3C5D7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A8F4-5495-E7C9-C463-704220D0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A5443-9ACD-DB53-3894-0A72C86F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B96E-A110-15D9-BB51-37C48ED9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0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C561-A935-4D21-9AF9-3DFC2E39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3DE1A-5B39-BA08-0412-833301D65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47B30-DE32-AEDC-3CF8-B2546A0C2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9176-097F-4C93-581C-3B852881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E1BFB-015F-193B-D25A-AC895748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E2C55-C920-3332-BD40-F5B10E7A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184D-C27A-C0F1-0BDC-9D19B682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D0F54-2FBE-1107-761E-270A1592F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85F2-7FDB-E3DF-D19B-9B78D6C7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65822-581A-9B23-28BB-97A3E635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59B0-54B2-6FB7-074E-18D37E1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0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06581-B58B-D3D4-00EE-3F6B1809F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B47F4-5A77-2F42-BD7D-C86D4765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9E08-A5EC-637A-645A-98E0E979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A809-4357-F1F6-4AF0-D8027CE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32E1E-F428-328D-71DC-DFF378F0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717AD-956C-E0AC-3AE4-3C82C275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F06D1-EFEB-E7E0-241E-E2B639EB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DC1C-3ED0-3429-4597-D48CE4392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BD66-E6A2-EFD9-16CA-304BC3417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BA88-D963-5E86-E35E-CE0D97CD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3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mdm.org/hub/page/smdm-conduct-policy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trikalin/des-R-course" TargetMode="External"/><Relationship Id="rId2" Type="http://schemas.openxmlformats.org/officeDocument/2006/relationships/hyperlink" Target="https://www.dropbox.com/scl/fo/5p96rftnv6owjx1mbanit/APcUP8EuNJvnB6n36zQV0wk?rlkey=521hiea67gccmnq15xqfa3bic&amp;st=c75lgsbg&amp;dl=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2127-00CC-0F47-F947-38123536F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Discrete Event Simulation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036C4-A865-79B3-DE0D-C7B1B9C77D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TA </a:t>
            </a:r>
            <a:r>
              <a:rPr lang="en-US" dirty="0" err="1"/>
              <a:t>Trikalinos</a:t>
            </a:r>
            <a:r>
              <a:rPr lang="en-US" dirty="0"/>
              <a:t>, F </a:t>
            </a:r>
            <a:r>
              <a:rPr lang="en-US" dirty="0" err="1"/>
              <a:t>Alarid</a:t>
            </a:r>
            <a:r>
              <a:rPr lang="en-US" dirty="0"/>
              <a:t>-Escudero, Y </a:t>
            </a:r>
            <a:r>
              <a:rPr lang="en-US" dirty="0" err="1"/>
              <a:t>Sereda</a:t>
            </a:r>
            <a:r>
              <a:rPr lang="en-US" dirty="0"/>
              <a:t>, SA </a:t>
            </a:r>
            <a:r>
              <a:rPr lang="en-US" dirty="0" err="1"/>
              <a:t>Chrysanthopoulou</a:t>
            </a:r>
            <a:endParaRPr lang="en-US" dirty="0"/>
          </a:p>
          <a:p>
            <a:endParaRPr lang="en-US" dirty="0"/>
          </a:p>
          <a:p>
            <a:r>
              <a:rPr lang="en-US" dirty="0"/>
              <a:t>SMDM 2026 (Oslo, Norway)</a:t>
            </a:r>
          </a:p>
        </p:txBody>
      </p:sp>
    </p:spTree>
    <p:extLst>
      <p:ext uri="{BB962C8B-B14F-4D97-AF65-F5344CB8AC3E}">
        <p14:creationId xmlns:p14="http://schemas.microsoft.com/office/powerpoint/2010/main" val="93243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1492-E8AA-85BE-047E-29FDAE6F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3DFD0-224D-B9E5-79B2-783AA7E88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no financial or other conflicts to declare </a:t>
            </a:r>
          </a:p>
          <a:p>
            <a:r>
              <a:rPr lang="en-US" dirty="0"/>
              <a:t>Supported by the NCI CISNET Incubator and CISNET programs:  </a:t>
            </a:r>
          </a:p>
          <a:p>
            <a:pPr lvl="1"/>
            <a:r>
              <a:rPr lang="en-US" dirty="0"/>
              <a:t>All by U01 CA265750-02 (CISNET bladder cancer)</a:t>
            </a:r>
          </a:p>
          <a:p>
            <a:pPr lvl="1"/>
            <a:r>
              <a:rPr lang="en-US" dirty="0" err="1"/>
              <a:t>Alarid</a:t>
            </a:r>
            <a:r>
              <a:rPr lang="en-US" dirty="0"/>
              <a:t>-Escudero also by U01 CA265729 (CISNET gastric cancer); and  U01 CA253913 (colorectal cancer)</a:t>
            </a:r>
          </a:p>
          <a:p>
            <a:r>
              <a:rPr lang="en-US" dirty="0" err="1"/>
              <a:t>Trikalinos</a:t>
            </a:r>
            <a:r>
              <a:rPr lang="en-US" dirty="0"/>
              <a:t> and </a:t>
            </a:r>
            <a:r>
              <a:rPr lang="en-US" dirty="0" err="1"/>
              <a:t>Sereda</a:t>
            </a:r>
            <a:r>
              <a:rPr lang="en-US" dirty="0"/>
              <a:t> developed and maintain the </a:t>
            </a:r>
            <a:r>
              <a:rPr lang="en-US" b="1" dirty="0" err="1"/>
              <a:t>nhppp</a:t>
            </a:r>
            <a:r>
              <a:rPr lang="en-US" dirty="0"/>
              <a:t> R package</a:t>
            </a:r>
          </a:p>
        </p:txBody>
      </p:sp>
    </p:spTree>
    <p:extLst>
      <p:ext uri="{BB962C8B-B14F-4D97-AF65-F5344CB8AC3E}">
        <p14:creationId xmlns:p14="http://schemas.microsoft.com/office/powerpoint/2010/main" val="801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2125A1-A8AB-CFA0-C54F-8A364765C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633294"/>
              </p:ext>
            </p:extLst>
          </p:nvPr>
        </p:nvGraphicFramePr>
        <p:xfrm>
          <a:off x="1208690" y="942340"/>
          <a:ext cx="10720551" cy="4973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7110">
                  <a:extLst>
                    <a:ext uri="{9D8B030D-6E8A-4147-A177-3AD203B41FA5}">
                      <a16:colId xmlns:a16="http://schemas.microsoft.com/office/drawing/2014/main" val="4182014441"/>
                    </a:ext>
                  </a:extLst>
                </a:gridCol>
                <a:gridCol w="5976462">
                  <a:extLst>
                    <a:ext uri="{9D8B030D-6E8A-4147-A177-3AD203B41FA5}">
                      <a16:colId xmlns:a16="http://schemas.microsoft.com/office/drawing/2014/main" val="906180283"/>
                    </a:ext>
                  </a:extLst>
                </a:gridCol>
                <a:gridCol w="3026979">
                  <a:extLst>
                    <a:ext uri="{9D8B030D-6E8A-4147-A177-3AD203B41FA5}">
                      <a16:colId xmlns:a16="http://schemas.microsoft.com/office/drawing/2014/main" val="2769721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Discussant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44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[15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(0) Introductions and administrivia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Trikalinos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99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[25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DES as a composition of point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Alarid</a:t>
                      </a:r>
                      <a:r>
                        <a:rPr lang="en-US" dirty="0"/>
                        <a:t>-Escudero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49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[30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NHPPPs – key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Trikalinos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9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[30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Sampling from NHPPPs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Sereda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36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[15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22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[80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Guided exercise: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 a simple cancer natural history DES for one person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many-person case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Packaging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[All]</a:t>
                      </a:r>
                    </a:p>
                    <a:p>
                      <a:r>
                        <a:rPr lang="en-US" dirty="0" err="1"/>
                        <a:t>Chrysanthopoulou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 err="1"/>
                        <a:t>Sereda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Alarid</a:t>
                      </a:r>
                      <a:r>
                        <a:rPr lang="en-US" dirty="0"/>
                        <a:t>-Escudero</a:t>
                      </a:r>
                    </a:p>
                    <a:p>
                      <a:r>
                        <a:rPr lang="en-US" dirty="0" err="1"/>
                        <a:t>Trikalinos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491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[5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Advanced Topic Teaser on self-excitatory processes: point processes that are not NHPPPs and when you may need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Trikalinos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472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[15 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Q &amp;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331301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68C45634-A874-B7E3-C11F-5C3696023CEC}"/>
              </a:ext>
            </a:extLst>
          </p:cNvPr>
          <p:cNvSpPr/>
          <p:nvPr/>
        </p:nvSpPr>
        <p:spPr>
          <a:xfrm>
            <a:off x="189186" y="1292771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4BFB9E-F1AF-C1B9-A793-D2B5AAF73689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15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9904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9B87-7605-CB25-BCEF-AFFEE66B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Administrivia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538C-E233-F06D-76BC-77A600E1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 conduct </a:t>
            </a:r>
          </a:p>
          <a:p>
            <a:pPr lvl="1"/>
            <a:r>
              <a:rPr lang="en-US" dirty="0">
                <a:hlinkClick r:id="rId2"/>
              </a:rPr>
              <a:t>https://smdm.org/hub/page/smdm-conduct-policy</a:t>
            </a:r>
            <a:r>
              <a:rPr lang="en-US" dirty="0"/>
              <a:t> </a:t>
            </a:r>
          </a:p>
          <a:p>
            <a:r>
              <a:rPr lang="en-US" dirty="0"/>
              <a:t>Bathroom locations</a:t>
            </a:r>
          </a:p>
          <a:p>
            <a:r>
              <a:rPr lang="en-US" dirty="0" err="1"/>
              <a:t>WiFi</a:t>
            </a:r>
            <a:r>
              <a:rPr lang="en-US" dirty="0"/>
              <a:t> (strip the quotation marks; keep whitespace in password)</a:t>
            </a:r>
          </a:p>
          <a:p>
            <a:pPr lvl="1"/>
            <a:r>
              <a:rPr lang="en-US" dirty="0"/>
              <a:t>SSID:  “conferences”</a:t>
            </a:r>
          </a:p>
          <a:p>
            <a:pPr lvl="1"/>
            <a:r>
              <a:rPr lang="en-US" dirty="0"/>
              <a:t>Password: “Leonhard Euler”</a:t>
            </a:r>
          </a:p>
          <a:p>
            <a:r>
              <a:rPr lang="en-US" dirty="0"/>
              <a:t>Format of the course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24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38E6-1061-4D62-AAEA-A61BCB78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hands-on part,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46735-3B9A-917F-2941-F24D172B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need R, preferably with an IDE such as R Studio.</a:t>
            </a:r>
          </a:p>
          <a:p>
            <a:r>
              <a:rPr lang="en-US" dirty="0"/>
              <a:t>Install packages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data.table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nhppp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(&gt;=1.0.0)</a:t>
            </a:r>
            <a:r>
              <a:rPr lang="en-US" dirty="0"/>
              <a:t>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/>
              <a:t>To install them from CRAN,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nhppp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dirty="0"/>
              <a:t>All materials are available at</a:t>
            </a:r>
          </a:p>
          <a:p>
            <a:pPr lvl="1"/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Through this </a:t>
            </a:r>
            <a:r>
              <a:rPr lang="en-US" sz="2200" b="0" i="0" dirty="0">
                <a:effectLst/>
                <a:latin typeface="Helvetica" pitchFamily="2" charset="0"/>
                <a:hlinkClick r:id="rId2"/>
              </a:rPr>
              <a:t>Dropbox link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 (full link in the email) through 28/07/2026. Password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 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"</a:t>
            </a:r>
            <a:r>
              <a:rPr lang="en-US" sz="2200" b="1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smdm_oslo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", </a:t>
            </a:r>
            <a:r>
              <a:rPr lang="en-US" sz="2200" dirty="0"/>
              <a:t>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https://github.com/ttrikalin/des-R-course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(smdm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_2026 </a:t>
            </a:r>
            <a:r>
              <a:rPr lang="en-US" dirty="0"/>
              <a:t>release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3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B025-ACDB-8C85-06BF-74CD576C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87532-550D-2F82-0820-A0FA2926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 able to discuss: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a basic DES is organized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Three properties of NHPPPs (</a:t>
            </a:r>
            <a:r>
              <a:rPr lang="en-US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memorylessness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composability, and transmutation by transforming the time axis) that are important for simulation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Sampling a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lgorithms and their use via </a:t>
            </a:r>
            <a:r>
              <a:rPr lang="en-US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’s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nhppp</a:t>
            </a:r>
            <a:r>
              <a:rPr lang="en-US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package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53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393</Words>
  <Application>Microsoft Macintosh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Helvetica</vt:lpstr>
      <vt:lpstr>Wingdings</vt:lpstr>
      <vt:lpstr>Office Theme</vt:lpstr>
      <vt:lpstr>Advanced Discrete Event Simulation in R</vt:lpstr>
      <vt:lpstr>Disclosures</vt:lpstr>
      <vt:lpstr>PowerPoint Presentation</vt:lpstr>
      <vt:lpstr>Administrivia</vt:lpstr>
      <vt:lpstr>For the hands-on part, </vt:lpstr>
      <vt:lpstr>Learning objectives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Trikalinos</dc:creator>
  <cp:lastModifiedBy>Thomas Trikalinos</cp:lastModifiedBy>
  <cp:revision>32</cp:revision>
  <dcterms:created xsi:type="dcterms:W3CDTF">2024-09-13T14:25:14Z</dcterms:created>
  <dcterms:modified xsi:type="dcterms:W3CDTF">2026-06-27T09:52:42Z</dcterms:modified>
</cp:coreProperties>
</file>